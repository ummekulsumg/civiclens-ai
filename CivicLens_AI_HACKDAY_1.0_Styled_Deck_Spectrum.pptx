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4B1BA"/>
                </a:solidFill>
                <a:latin typeface="Aptos"/>
              </a:rPr>
              <a:t>CIVICLENS AI  /  HACKDAY 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B1BA"/>
                </a:solidFill>
                <a:latin typeface="Aptos"/>
              </a:rPr>
              <a:t>01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566928"/>
            <a:ext cx="11091672" cy="0"/>
          </a:xfrm>
          <a:prstGeom prst="line">
            <a:avLst/>
          </a:prstGeom>
          <a:ln w="12700">
            <a:solidFill>
              <a:srgbClr val="2F3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858000" y="5257800"/>
            <a:ext cx="320040" cy="548640"/>
          </a:xfrm>
          <a:prstGeom prst="rect">
            <a:avLst/>
          </a:prstGeom>
          <a:solidFill>
            <a:srgbClr val="19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31152" y="5367528"/>
            <a:ext cx="54864" cy="54864"/>
          </a:xfrm>
          <a:prstGeom prst="rect">
            <a:avLst/>
          </a:prstGeom>
          <a:solidFill>
            <a:srgbClr val="4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40880" y="5367528"/>
            <a:ext cx="54864" cy="54864"/>
          </a:xfrm>
          <a:prstGeom prst="rect">
            <a:avLst/>
          </a:prstGeom>
          <a:solidFill>
            <a:srgbClr val="BEE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60920" y="4892040"/>
            <a:ext cx="320040" cy="914400"/>
          </a:xfrm>
          <a:prstGeom prst="rect">
            <a:avLst/>
          </a:prstGeom>
          <a:solidFill>
            <a:srgbClr val="19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34072" y="5001768"/>
            <a:ext cx="54864" cy="54864"/>
          </a:xfrm>
          <a:prstGeom prst="rect">
            <a:avLst/>
          </a:prstGeom>
          <a:solidFill>
            <a:srgbClr val="4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43800" y="5001768"/>
            <a:ext cx="54864" cy="54864"/>
          </a:xfrm>
          <a:prstGeom prst="rect">
            <a:avLst/>
          </a:prstGeom>
          <a:solidFill>
            <a:srgbClr val="BEE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0" y="4434840"/>
            <a:ext cx="320040" cy="1371600"/>
          </a:xfrm>
          <a:prstGeom prst="rect">
            <a:avLst/>
          </a:prstGeom>
          <a:solidFill>
            <a:srgbClr val="19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36992" y="4544568"/>
            <a:ext cx="54864" cy="54864"/>
          </a:xfrm>
          <a:prstGeom prst="rect">
            <a:avLst/>
          </a:prstGeom>
          <a:solidFill>
            <a:srgbClr val="4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19" y="4544568"/>
            <a:ext cx="54864" cy="54864"/>
          </a:xfrm>
          <a:prstGeom prst="rect">
            <a:avLst/>
          </a:prstGeom>
          <a:solidFill>
            <a:srgbClr val="BEE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66760" y="4983479"/>
            <a:ext cx="320040" cy="822960"/>
          </a:xfrm>
          <a:prstGeom prst="rect">
            <a:avLst/>
          </a:prstGeom>
          <a:solidFill>
            <a:srgbClr val="19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39912" y="5093207"/>
            <a:ext cx="54864" cy="54864"/>
          </a:xfrm>
          <a:prstGeom prst="rect">
            <a:avLst/>
          </a:prstGeom>
          <a:solidFill>
            <a:srgbClr val="4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49640" y="5093207"/>
            <a:ext cx="54864" cy="54864"/>
          </a:xfrm>
          <a:prstGeom prst="rect">
            <a:avLst/>
          </a:prstGeom>
          <a:solidFill>
            <a:srgbClr val="BEE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69680" y="4160520"/>
            <a:ext cx="320040" cy="1645920"/>
          </a:xfrm>
          <a:prstGeom prst="rect">
            <a:avLst/>
          </a:prstGeom>
          <a:solidFill>
            <a:srgbClr val="19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42832" y="4270248"/>
            <a:ext cx="54864" cy="54864"/>
          </a:xfrm>
          <a:prstGeom prst="rect">
            <a:avLst/>
          </a:prstGeom>
          <a:solidFill>
            <a:srgbClr val="4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52559" y="4270248"/>
            <a:ext cx="54864" cy="54864"/>
          </a:xfrm>
          <a:prstGeom prst="rect">
            <a:avLst/>
          </a:prstGeom>
          <a:solidFill>
            <a:srgbClr val="BEE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72600" y="4709159"/>
            <a:ext cx="320040" cy="1097280"/>
          </a:xfrm>
          <a:prstGeom prst="rect">
            <a:avLst/>
          </a:prstGeom>
          <a:solidFill>
            <a:srgbClr val="19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45752" y="4818888"/>
            <a:ext cx="54864" cy="54864"/>
          </a:xfrm>
          <a:prstGeom prst="rect">
            <a:avLst/>
          </a:prstGeom>
          <a:solidFill>
            <a:srgbClr val="4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55480" y="4818888"/>
            <a:ext cx="54864" cy="54864"/>
          </a:xfrm>
          <a:prstGeom prst="rect">
            <a:avLst/>
          </a:prstGeom>
          <a:solidFill>
            <a:srgbClr val="BEE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875520" y="5166359"/>
            <a:ext cx="320040" cy="640080"/>
          </a:xfrm>
          <a:prstGeom prst="rect">
            <a:avLst/>
          </a:prstGeom>
          <a:solidFill>
            <a:srgbClr val="19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948672" y="5276088"/>
            <a:ext cx="54864" cy="54864"/>
          </a:xfrm>
          <a:prstGeom prst="rect">
            <a:avLst/>
          </a:prstGeom>
          <a:solidFill>
            <a:srgbClr val="4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58400" y="5276088"/>
            <a:ext cx="54864" cy="54864"/>
          </a:xfrm>
          <a:prstGeom prst="rect">
            <a:avLst/>
          </a:prstGeom>
          <a:solidFill>
            <a:srgbClr val="BEE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378440" y="4526279"/>
            <a:ext cx="320040" cy="1280160"/>
          </a:xfrm>
          <a:prstGeom prst="rect">
            <a:avLst/>
          </a:prstGeom>
          <a:solidFill>
            <a:srgbClr val="19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451592" y="4636007"/>
            <a:ext cx="54864" cy="54864"/>
          </a:xfrm>
          <a:prstGeom prst="rect">
            <a:avLst/>
          </a:prstGeom>
          <a:solidFill>
            <a:srgbClr val="4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561320" y="4636007"/>
            <a:ext cx="54864" cy="54864"/>
          </a:xfrm>
          <a:prstGeom prst="rect">
            <a:avLst/>
          </a:prstGeom>
          <a:solidFill>
            <a:srgbClr val="BEE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881360" y="5074920"/>
            <a:ext cx="320040" cy="731520"/>
          </a:xfrm>
          <a:prstGeom prst="rect">
            <a:avLst/>
          </a:prstGeom>
          <a:solidFill>
            <a:srgbClr val="19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954512" y="5184648"/>
            <a:ext cx="54864" cy="54864"/>
          </a:xfrm>
          <a:prstGeom prst="rect">
            <a:avLst/>
          </a:prstGeom>
          <a:solidFill>
            <a:srgbClr val="4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064240" y="5184648"/>
            <a:ext cx="54864" cy="54864"/>
          </a:xfrm>
          <a:prstGeom prst="rect">
            <a:avLst/>
          </a:prstGeom>
          <a:solidFill>
            <a:srgbClr val="BEE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" y="1024128"/>
            <a:ext cx="1508760" cy="320040"/>
          </a:xfrm>
          <a:prstGeom prst="roundRect">
            <a:avLst/>
          </a:prstGeom>
          <a:solidFill>
            <a:srgbClr val="BEE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1033272"/>
            <a:ext cx="1508760" cy="3017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C1219"/>
                </a:solidFill>
                <a:latin typeface="Aptos"/>
              </a:rPr>
              <a:t>OPEN INNOVATION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1481328"/>
            <a:ext cx="61264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4F7F8"/>
                </a:solidFill>
                <a:latin typeface="Aptos"/>
              </a:rPr>
              <a:t>CivicLens 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2743200"/>
            <a:ext cx="5212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A4B1BA"/>
                </a:solidFill>
                <a:latin typeface="Aptos"/>
              </a:rPr>
              <a:t>A photo is already evidence.
We make it usable.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3767328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5D3BE"/>
                </a:solidFill>
                <a:latin typeface="Aptos"/>
              </a:rPr>
              <a:t>See the Problem. Report It. Track the Impact.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0" y="914400"/>
            <a:ext cx="4160520" cy="4526280"/>
          </a:xfrm>
          <a:prstGeom prst="roundRect">
            <a:avLst/>
          </a:prstGeom>
          <a:solidFill>
            <a:srgbClr val="141D26"/>
          </a:solidFill>
          <a:ln>
            <a:solidFill>
              <a:srgbClr val="2F3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635240" y="1234440"/>
            <a:ext cx="914400" cy="301752"/>
          </a:xfrm>
          <a:prstGeom prst="roundRect">
            <a:avLst/>
          </a:prstGeom>
          <a:solidFill>
            <a:srgbClr val="F56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35240" y="1243584"/>
            <a:ext cx="91440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4F7F8"/>
                </a:solidFill>
                <a:latin typeface="Aptos"/>
              </a:rPr>
              <a:t>LIVE CASE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1691640"/>
            <a:ext cx="3383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F7F8"/>
                </a:solidFill>
                <a:latin typeface="Aptos"/>
              </a:rPr>
              <a:t>Road damage detected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35240" y="2194560"/>
            <a:ext cx="3474720" cy="1325880"/>
          </a:xfrm>
          <a:prstGeom prst="roundRect">
            <a:avLst/>
          </a:prstGeom>
          <a:solidFill>
            <a:srgbClr val="19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818120" y="2926080"/>
            <a:ext cx="1828800" cy="201168"/>
          </a:xfrm>
          <a:prstGeom prst="roundRect">
            <a:avLst/>
          </a:prstGeom>
          <a:solidFill>
            <a:srgbClr val="2F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12480" y="2487168"/>
            <a:ext cx="1143000" cy="502920"/>
          </a:xfrm>
          <a:prstGeom prst="ellipse">
            <a:avLst/>
          </a:prstGeom>
          <a:solidFill>
            <a:srgbClr val="0C1219"/>
          </a:solidFill>
          <a:ln>
            <a:solidFill>
              <a:srgbClr val="2F3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635240" y="3767328"/>
            <a:ext cx="1051560" cy="310896"/>
          </a:xfrm>
          <a:prstGeom prst="roundRect">
            <a:avLst/>
          </a:prstGeom>
          <a:solidFill>
            <a:srgbClr val="4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35240" y="3776472"/>
            <a:ext cx="1051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C1219"/>
                </a:solidFill>
                <a:latin typeface="Aptos"/>
              </a:rPr>
              <a:t>POTHOLE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823960" y="3767328"/>
            <a:ext cx="868680" cy="310896"/>
          </a:xfrm>
          <a:prstGeom prst="roundRect">
            <a:avLst/>
          </a:prstGeom>
          <a:solidFill>
            <a:srgbClr val="FFA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23960" y="3776472"/>
            <a:ext cx="868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C1219"/>
                </a:solidFill>
                <a:latin typeface="Aptos"/>
              </a:rPr>
              <a:t>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429768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4B1BA"/>
                </a:solidFill>
                <a:latin typeface="Aptos"/>
              </a:rPr>
              <a:t>Impact Score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4590288"/>
            <a:ext cx="1097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BEE55D"/>
                </a:solidFill>
                <a:latin typeface="Aptos"/>
              </a:rPr>
              <a:t>82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32520" y="472744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4B1BA"/>
                </a:solidFill>
                <a:latin typeface="Aptos"/>
              </a:rPr>
              <a:t>AI-assisted signal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4B1BA"/>
                </a:solidFill>
                <a:latin typeface="Aptos"/>
              </a:rPr>
              <a:t>TEAM: Spectrum  •  TECH FOR A BETTER TOMORROW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4B1BA"/>
                </a:solidFill>
                <a:latin typeface="Aptos"/>
              </a:rPr>
              <a:t>CIVICLENS AI  /  HACKDAY 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B1BA"/>
                </a:solidFill>
                <a:latin typeface="Aptos"/>
              </a:rPr>
              <a:t>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566928"/>
            <a:ext cx="11091672" cy="0"/>
          </a:xfrm>
          <a:prstGeom prst="line">
            <a:avLst/>
          </a:prstGeom>
          <a:ln w="12700">
            <a:solidFill>
              <a:srgbClr val="2F3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749808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5D3BE"/>
                </a:solidFill>
                <a:latin typeface="Aptos"/>
              </a:rPr>
              <a:t>01 / THE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4F7F8"/>
                </a:solidFill>
                <a:latin typeface="Aptos"/>
              </a:rPr>
              <a:t>People see the problem. The system sees a complaint.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10512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4B1BA"/>
                </a:solidFill>
                <a:latin typeface="Aptos"/>
              </a:rPr>
              <a:t>The missing step is turning messy real-world observations into structured civic information.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4572000" cy="3063240"/>
          </a:xfrm>
          <a:prstGeom prst="roundRect">
            <a:avLst/>
          </a:prstGeom>
          <a:solidFill>
            <a:srgbClr val="141D26"/>
          </a:solidFill>
          <a:ln>
            <a:solidFill>
              <a:srgbClr val="2F3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2697480"/>
            <a:ext cx="914400" cy="292608"/>
          </a:xfrm>
          <a:prstGeom prst="roundRect">
            <a:avLst/>
          </a:prstGeom>
          <a:solidFill>
            <a:srgbClr val="FFA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706624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C1219"/>
                </a:solidFill>
                <a:latin typeface="Aptos"/>
              </a:rPr>
              <a:t>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5468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4F7F8"/>
                </a:solidFill>
                <a:latin typeface="Aptos"/>
              </a:rPr>
              <a:t>“Big pothole here. Please fix.”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39"/>
            <a:ext cx="3749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4B1BA"/>
                </a:solidFill>
                <a:latin typeface="Aptos"/>
              </a:rPr>
              <a:t>What is missing?</a:t>
            </a:r>
          </a:p>
        </p:txBody>
      </p:sp>
      <p:sp>
        <p:nvSpPr>
          <p:cNvPr id="13" name="Oval 12"/>
          <p:cNvSpPr/>
          <p:nvPr/>
        </p:nvSpPr>
        <p:spPr>
          <a:xfrm>
            <a:off x="873252" y="4210812"/>
            <a:ext cx="82296" cy="82296"/>
          </a:xfrm>
          <a:prstGeom prst="ellipse">
            <a:avLst/>
          </a:prstGeom>
          <a:solidFill>
            <a:srgbClr val="4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114800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7F8"/>
                </a:solidFill>
                <a:latin typeface="Aptos"/>
              </a:rPr>
              <a:t>Category</a:t>
            </a:r>
          </a:p>
        </p:txBody>
      </p:sp>
      <p:sp>
        <p:nvSpPr>
          <p:cNvPr id="15" name="Oval 14"/>
          <p:cNvSpPr/>
          <p:nvPr/>
        </p:nvSpPr>
        <p:spPr>
          <a:xfrm>
            <a:off x="873252" y="4539996"/>
            <a:ext cx="82296" cy="82296"/>
          </a:xfrm>
          <a:prstGeom prst="ellipse">
            <a:avLst/>
          </a:prstGeom>
          <a:solidFill>
            <a:srgbClr val="4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443984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7F8"/>
                </a:solidFill>
                <a:latin typeface="Aptos"/>
              </a:rPr>
              <a:t>Apparent severity</a:t>
            </a:r>
          </a:p>
        </p:txBody>
      </p:sp>
      <p:sp>
        <p:nvSpPr>
          <p:cNvPr id="17" name="Oval 16"/>
          <p:cNvSpPr/>
          <p:nvPr/>
        </p:nvSpPr>
        <p:spPr>
          <a:xfrm>
            <a:off x="873252" y="4869180"/>
            <a:ext cx="82296" cy="82296"/>
          </a:xfrm>
          <a:prstGeom prst="ellipse">
            <a:avLst/>
          </a:prstGeom>
          <a:solidFill>
            <a:srgbClr val="BEE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773168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7F8"/>
                </a:solidFill>
                <a:latin typeface="Aptos"/>
              </a:rPr>
              <a:t>Useful context</a:t>
            </a:r>
          </a:p>
        </p:txBody>
      </p:sp>
      <p:sp>
        <p:nvSpPr>
          <p:cNvPr id="19" name="Oval 18"/>
          <p:cNvSpPr/>
          <p:nvPr/>
        </p:nvSpPr>
        <p:spPr>
          <a:xfrm>
            <a:off x="873252" y="5198364"/>
            <a:ext cx="82296" cy="82296"/>
          </a:xfrm>
          <a:prstGeom prst="ellipse">
            <a:avLst/>
          </a:prstGeom>
          <a:solidFill>
            <a:srgbClr val="BEE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102352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7F8"/>
                </a:solidFill>
                <a:latin typeface="Aptos"/>
              </a:rPr>
              <a:t>Structured 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2487168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5D3BE"/>
                </a:solidFill>
                <a:latin typeface="Aptos"/>
              </a:rPr>
              <a:t>WHAT CIVICLENS TRIES TO ADD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2926080"/>
            <a:ext cx="1143000" cy="274320"/>
          </a:xfrm>
          <a:prstGeom prst="roundRect">
            <a:avLst/>
          </a:prstGeom>
          <a:solidFill>
            <a:srgbClr val="19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23560" y="2935224"/>
            <a:ext cx="1143000" cy="2560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45D3BE"/>
                </a:solidFill>
                <a:latin typeface="Aptos"/>
              </a:rPr>
              <a:t>LESS TYPING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916936"/>
            <a:ext cx="4069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4F7F8"/>
                </a:solidFill>
                <a:latin typeface="Aptos"/>
              </a:rPr>
              <a:t>Start with the photo.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3639312"/>
            <a:ext cx="1143000" cy="274320"/>
          </a:xfrm>
          <a:prstGeom prst="roundRect">
            <a:avLst/>
          </a:prstGeom>
          <a:solidFill>
            <a:srgbClr val="19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23560" y="3648456"/>
            <a:ext cx="1143000" cy="2560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45D3BE"/>
                </a:solidFill>
                <a:latin typeface="Aptos"/>
              </a:rPr>
              <a:t>MORE 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630168"/>
            <a:ext cx="4069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4F7F8"/>
                </a:solidFill>
                <a:latin typeface="Aptos"/>
              </a:rPr>
              <a:t>AI suggests category + description.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23560" y="4352544"/>
            <a:ext cx="1143000" cy="274320"/>
          </a:xfrm>
          <a:prstGeom prst="roundRect">
            <a:avLst/>
          </a:prstGeom>
          <a:solidFill>
            <a:srgbClr val="19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23560" y="4361688"/>
            <a:ext cx="1143000" cy="2560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45D3BE"/>
                </a:solidFill>
                <a:latin typeface="Aptos"/>
              </a:rPr>
              <a:t>MORE CONTEXT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343400"/>
            <a:ext cx="4069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4F7F8"/>
                </a:solidFill>
                <a:latin typeface="Aptos"/>
              </a:rPr>
              <a:t>Severity + impact become visible.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23560" y="5065776"/>
            <a:ext cx="1143000" cy="274320"/>
          </a:xfrm>
          <a:prstGeom prst="roundRect">
            <a:avLst/>
          </a:prstGeom>
          <a:solidFill>
            <a:srgbClr val="19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23560" y="5074920"/>
            <a:ext cx="1143000" cy="2560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45D3BE"/>
                </a:solidFill>
                <a:latin typeface="Aptos"/>
              </a:rPr>
              <a:t>MORE CONTINUITY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5056632"/>
            <a:ext cx="4069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4F7F8"/>
                </a:solidFill>
                <a:latin typeface="Aptos"/>
              </a:rPr>
              <a:t>Track and map the report.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4B1BA"/>
                </a:solidFill>
                <a:latin typeface="Aptos"/>
              </a:rPr>
              <a:t>TEAM: Spectrum  •  TECH FOR A BETTER TOMORROW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4B1BA"/>
                </a:solidFill>
                <a:latin typeface="Aptos"/>
              </a:rPr>
              <a:t>CIVICLENS AI  /  HACKDAY 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B1BA"/>
                </a:solidFill>
                <a:latin typeface="Aptos"/>
              </a:rPr>
              <a:t>03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566928"/>
            <a:ext cx="11091672" cy="0"/>
          </a:xfrm>
          <a:prstGeom prst="line">
            <a:avLst/>
          </a:prstGeom>
          <a:ln w="12700">
            <a:solidFill>
              <a:srgbClr val="2F3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749808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5D3BE"/>
                </a:solidFill>
                <a:latin typeface="Aptos"/>
              </a:rPr>
              <a:t>02 / THE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4F7F8"/>
                </a:solidFill>
                <a:latin typeface="Aptos"/>
              </a:rPr>
              <a:t>One photo → one structured civic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10512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4B1BA"/>
                </a:solidFill>
                <a:latin typeface="Aptos"/>
              </a:rPr>
              <a:t>CivicLens turns visual evidence into a report that can be reviewed, submitted and tracked.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743200"/>
            <a:ext cx="1645920" cy="1874519"/>
          </a:xfrm>
          <a:prstGeom prst="roundRect">
            <a:avLst/>
          </a:prstGeom>
          <a:solidFill>
            <a:srgbClr val="141D26"/>
          </a:solidFill>
          <a:ln>
            <a:solidFill>
              <a:srgbClr val="2F3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104" y="2907792"/>
            <a:ext cx="411480" cy="256032"/>
          </a:xfrm>
          <a:prstGeom prst="roundRect">
            <a:avLst/>
          </a:prstGeom>
          <a:solidFill>
            <a:srgbClr val="4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2916936"/>
            <a:ext cx="411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C1219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3410712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7F8"/>
                </a:solidFill>
                <a:latin typeface="Aptos"/>
              </a:rPr>
              <a:t>PHOTO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3822191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4B1BA"/>
                </a:solidFill>
                <a:latin typeface="Aptos"/>
              </a:rPr>
              <a:t>Upload the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45643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45D3BE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2743200"/>
            <a:ext cx="1645920" cy="1874519"/>
          </a:xfrm>
          <a:prstGeom prst="roundRect">
            <a:avLst/>
          </a:prstGeom>
          <a:solidFill>
            <a:srgbClr val="141D26"/>
          </a:solidFill>
          <a:ln>
            <a:solidFill>
              <a:srgbClr val="2F3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35224" y="2907792"/>
            <a:ext cx="411480" cy="256032"/>
          </a:xfrm>
          <a:prstGeom prst="roundRect">
            <a:avLst/>
          </a:prstGeom>
          <a:solidFill>
            <a:srgbClr val="4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35224" y="2916936"/>
            <a:ext cx="411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C1219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35224" y="3410712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7F8"/>
                </a:solidFill>
                <a:latin typeface="Aptos"/>
              </a:rPr>
              <a:t>UNDERSTAND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35224" y="3822191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4B1BA"/>
                </a:solidFill>
                <a:latin typeface="Aptos"/>
              </a:rPr>
              <a:t>Find likely issue.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45643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45D3BE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92040" y="2743200"/>
            <a:ext cx="1645920" cy="1874519"/>
          </a:xfrm>
          <a:prstGeom prst="roundRect">
            <a:avLst/>
          </a:prstGeom>
          <a:solidFill>
            <a:srgbClr val="141D26"/>
          </a:solidFill>
          <a:ln>
            <a:solidFill>
              <a:srgbClr val="2F3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38344" y="2907792"/>
            <a:ext cx="411480" cy="256032"/>
          </a:xfrm>
          <a:prstGeom prst="roundRect">
            <a:avLst/>
          </a:prstGeom>
          <a:solidFill>
            <a:srgbClr val="4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38344" y="2916936"/>
            <a:ext cx="411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C1219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38344" y="3410712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7F8"/>
                </a:solidFill>
                <a:latin typeface="Aptos"/>
              </a:rPr>
              <a:t>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38344" y="3822191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4B1BA"/>
                </a:solidFill>
                <a:latin typeface="Aptos"/>
              </a:rPr>
              <a:t>Estimate severity + impact.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79" y="345643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45D3BE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95160" y="2743200"/>
            <a:ext cx="1645920" cy="1874519"/>
          </a:xfrm>
          <a:prstGeom prst="roundRect">
            <a:avLst/>
          </a:prstGeom>
          <a:solidFill>
            <a:srgbClr val="141D26"/>
          </a:solidFill>
          <a:ln>
            <a:solidFill>
              <a:srgbClr val="2F3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41464" y="2907792"/>
            <a:ext cx="411480" cy="256032"/>
          </a:xfrm>
          <a:prstGeom prst="roundRect">
            <a:avLst/>
          </a:prstGeom>
          <a:solidFill>
            <a:srgbClr val="4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41464" y="2916936"/>
            <a:ext cx="411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C1219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41464" y="3410712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7F8"/>
                </a:solidFill>
                <a:latin typeface="Aptos"/>
              </a:rPr>
              <a:t>WRITE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41464" y="3822191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4B1BA"/>
                </a:solidFill>
                <a:latin typeface="Aptos"/>
              </a:rPr>
              <a:t>Generate a clear draft.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345643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45D3BE"/>
                </a:solidFill>
                <a:latin typeface="Apto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280" y="2743200"/>
            <a:ext cx="1645920" cy="1874519"/>
          </a:xfrm>
          <a:prstGeom prst="roundRect">
            <a:avLst/>
          </a:prstGeom>
          <a:solidFill>
            <a:srgbClr val="141D26"/>
          </a:solidFill>
          <a:ln>
            <a:solidFill>
              <a:srgbClr val="2F3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244584" y="2907792"/>
            <a:ext cx="411480" cy="256032"/>
          </a:xfrm>
          <a:prstGeom prst="roundRect">
            <a:avLst/>
          </a:prstGeom>
          <a:solidFill>
            <a:srgbClr val="4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44584" y="2916936"/>
            <a:ext cx="411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C1219"/>
                </a:solidFill>
                <a:latin typeface="Aptos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44584" y="3410712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7F8"/>
                </a:solidFill>
                <a:latin typeface="Aptos"/>
              </a:rPr>
              <a:t>TRACK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44584" y="3822191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4B1BA"/>
                </a:solidFill>
                <a:latin typeface="Aptos"/>
              </a:rPr>
              <a:t>Follow status + map.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34840" y="5212080"/>
            <a:ext cx="3429000" cy="329184"/>
          </a:xfrm>
          <a:prstGeom prst="roundRect">
            <a:avLst/>
          </a:prstGeom>
          <a:solidFill>
            <a:srgbClr val="BEE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34840" y="5221224"/>
            <a:ext cx="3429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C1219"/>
                </a:solidFill>
                <a:latin typeface="Aptos"/>
              </a:rPr>
              <a:t>CITIZEN REVIEWS BEFORE SUBMITTING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4B1BA"/>
                </a:solidFill>
                <a:latin typeface="Aptos"/>
              </a:rPr>
              <a:t>TEAM: Spectrum  •  TECH FOR A BETTER TOMORROW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4B1BA"/>
                </a:solidFill>
                <a:latin typeface="Aptos"/>
              </a:rPr>
              <a:t>CIVICLENS AI  /  HACKDAY 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B1BA"/>
                </a:solidFill>
                <a:latin typeface="Aptos"/>
              </a:rPr>
              <a:t>04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566928"/>
            <a:ext cx="11091672" cy="0"/>
          </a:xfrm>
          <a:prstGeom prst="line">
            <a:avLst/>
          </a:prstGeom>
          <a:ln w="12700">
            <a:solidFill>
              <a:srgbClr val="2F3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749808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5D3BE"/>
                </a:solidFill>
                <a:latin typeface="Aptos"/>
              </a:rPr>
              <a:t>03 / THE DIFFERENCE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4F7F8"/>
                </a:solidFill>
                <a:latin typeface="Aptos"/>
              </a:rPr>
              <a:t>We are not replacing civic systems.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10512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4B1BA"/>
                </a:solidFill>
                <a:latin typeface="Aptos"/>
              </a:rPr>
              <a:t>We are adding an AI-assisted information layer on top of a familiar reporting journey.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23160"/>
            <a:ext cx="3246120" cy="3108960"/>
          </a:xfrm>
          <a:prstGeom prst="roundRect">
            <a:avLst/>
          </a:prstGeom>
          <a:solidFill>
            <a:srgbClr val="141D26"/>
          </a:solidFill>
          <a:ln>
            <a:solidFill>
              <a:srgbClr val="2F3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4B1BA"/>
                </a:solidFill>
                <a:latin typeface="Aptos"/>
              </a:rPr>
              <a:t>EXISTING 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82112"/>
            <a:ext cx="2651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4F7F8"/>
                </a:solidFill>
                <a:latin typeface="Aptos"/>
              </a:rPr>
              <a:t>Report →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86200"/>
            <a:ext cx="2606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4B1BA"/>
                </a:solidFill>
                <a:latin typeface="Aptos"/>
              </a:rPr>
              <a:t>Digital grievance portals already make reporting possible.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800600"/>
            <a:ext cx="1097280" cy="292608"/>
          </a:xfrm>
          <a:prstGeom prst="roundRect">
            <a:avLst/>
          </a:prstGeom>
          <a:solidFill>
            <a:srgbClr val="19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9744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A4B1BA"/>
                </a:solidFill>
                <a:latin typeface="Aptos"/>
              </a:rPr>
              <a:t>KNOWN 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2423160"/>
            <a:ext cx="3246120" cy="3108960"/>
          </a:xfrm>
          <a:prstGeom prst="roundRect">
            <a:avLst/>
          </a:prstGeom>
          <a:solidFill>
            <a:srgbClr val="19242E"/>
          </a:solidFill>
          <a:ln>
            <a:solidFill>
              <a:srgbClr val="45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26974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5D3BE"/>
                </a:solidFill>
                <a:latin typeface="Aptos"/>
              </a:rPr>
              <a:t>CIVICLENS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182112"/>
            <a:ext cx="2651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4F7F8"/>
                </a:solidFill>
                <a:latin typeface="Aptos"/>
              </a:rPr>
              <a:t>Photo → Insight →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886200"/>
            <a:ext cx="2697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4B1BA"/>
                </a:solidFill>
                <a:latin typeface="Aptos"/>
              </a:rPr>
              <a:t>Image understanding, severity, impact signal and structured report in one flow.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4800600"/>
            <a:ext cx="1554480" cy="292608"/>
          </a:xfrm>
          <a:prstGeom prst="roundRect">
            <a:avLst/>
          </a:prstGeom>
          <a:solidFill>
            <a:srgbClr val="4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4809744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C1219"/>
                </a:solidFill>
                <a:latin typeface="Aptos"/>
              </a:rPr>
              <a:t>HACKATHON FOCUS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2423160"/>
            <a:ext cx="3246120" cy="3108960"/>
          </a:xfrm>
          <a:prstGeom prst="roundRect">
            <a:avLst/>
          </a:prstGeom>
          <a:solidFill>
            <a:srgbClr val="141D26"/>
          </a:solidFill>
          <a:ln>
            <a:solidFill>
              <a:srgbClr val="2F3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26974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4B1BA"/>
                </a:solidFill>
                <a:latin typeface="Aptos"/>
              </a:rPr>
              <a:t>COMMUNITY 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182112"/>
            <a:ext cx="2651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4F7F8"/>
                </a:solidFill>
                <a:latin typeface="Aptos"/>
              </a:rPr>
              <a:t>Map +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886200"/>
            <a:ext cx="2697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4B1BA"/>
                </a:solidFill>
                <a:latin typeface="Aptos"/>
              </a:rPr>
              <a:t>Individual cases become visible as patterns across an area.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0" y="4800600"/>
            <a:ext cx="1645920" cy="292608"/>
          </a:xfrm>
          <a:prstGeom prst="roundRect">
            <a:avLst/>
          </a:prstGeom>
          <a:solidFill>
            <a:srgbClr val="BEE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4809744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C1219"/>
                </a:solidFill>
                <a:latin typeface="Aptos"/>
              </a:rPr>
              <a:t>INSIGHT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4B1BA"/>
                </a:solidFill>
                <a:latin typeface="Aptos"/>
              </a:rPr>
              <a:t>TEAM: Spectrum  •  TECH FOR A BETTER TOMORROW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4B1BA"/>
                </a:solidFill>
                <a:latin typeface="Aptos"/>
              </a:rPr>
              <a:t>CIVICLENS AI  /  HACKDAY 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B1BA"/>
                </a:solidFill>
                <a:latin typeface="Aptos"/>
              </a:rPr>
              <a:t>05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566928"/>
            <a:ext cx="11091672" cy="0"/>
          </a:xfrm>
          <a:prstGeom prst="line">
            <a:avLst/>
          </a:prstGeom>
          <a:ln w="12700">
            <a:solidFill>
              <a:srgbClr val="2F3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749808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5D3BE"/>
                </a:solidFill>
                <a:latin typeface="Aptos"/>
              </a:rPr>
              <a:t>04 / IMPACT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4F7F8"/>
                </a:solidFill>
                <a:latin typeface="Aptos"/>
              </a:rPr>
              <a:t>One number, backed by visible factors.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10512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4B1BA"/>
                </a:solidFill>
                <a:latin typeface="Aptos"/>
              </a:rPr>
              <a:t>A prototype signal — not an official government priority or ranking.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31720"/>
            <a:ext cx="3840480" cy="3429000"/>
          </a:xfrm>
          <a:prstGeom prst="roundRect">
            <a:avLst/>
          </a:prstGeom>
          <a:solidFill>
            <a:srgbClr val="141D26"/>
          </a:solidFill>
          <a:ln>
            <a:solidFill>
              <a:srgbClr val="2F3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5D3BE"/>
                </a:solidFill>
                <a:latin typeface="Aptos"/>
              </a:rPr>
              <a:t>AI-ASSISTED IMPACT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1800613" y="4485933"/>
            <a:ext cx="53128" cy="108927"/>
          </a:xfrm>
          <a:prstGeom prst="line">
            <a:avLst/>
          </a:prstGeom>
          <a:ln w="63500">
            <a:solidFill>
              <a:srgbClr val="BEE5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1756342" y="4341128"/>
            <a:ext cx="33405" cy="116498"/>
          </a:xfrm>
          <a:prstGeom prst="line">
            <a:avLst/>
          </a:prstGeom>
          <a:ln w="63500">
            <a:solidFill>
              <a:srgbClr val="BEE5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1737889" y="4190836"/>
            <a:ext cx="12668" cy="120528"/>
          </a:xfrm>
          <a:prstGeom prst="line">
            <a:avLst/>
          </a:prstGeom>
          <a:ln w="63500">
            <a:solidFill>
              <a:srgbClr val="BEE5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737360" y="4039623"/>
            <a:ext cx="8453" cy="120897"/>
          </a:xfrm>
          <a:prstGeom prst="line">
            <a:avLst/>
          </a:prstGeom>
          <a:ln w="63500">
            <a:solidFill>
              <a:srgbClr val="BEE5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750557" y="3892083"/>
            <a:ext cx="29319" cy="117592"/>
          </a:xfrm>
          <a:prstGeom prst="line">
            <a:avLst/>
          </a:prstGeom>
          <a:ln w="63500">
            <a:solidFill>
              <a:srgbClr val="BEE5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789747" y="3752699"/>
            <a:ext cx="49294" cy="110714"/>
          </a:xfrm>
          <a:prstGeom prst="line">
            <a:avLst/>
          </a:prstGeom>
          <a:ln w="63500">
            <a:solidFill>
              <a:srgbClr val="BEE5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853741" y="3625707"/>
            <a:ext cx="67769" cy="100473"/>
          </a:xfrm>
          <a:prstGeom prst="line">
            <a:avLst/>
          </a:prstGeom>
          <a:ln w="63500">
            <a:solidFill>
              <a:srgbClr val="BEE5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940592" y="3514964"/>
            <a:ext cx="84187" cy="87179"/>
          </a:xfrm>
          <a:prstGeom prst="line">
            <a:avLst/>
          </a:prstGeom>
          <a:ln w="63500">
            <a:solidFill>
              <a:srgbClr val="BEE5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047663" y="3423837"/>
            <a:ext cx="98046" cy="71235"/>
          </a:xfrm>
          <a:prstGeom prst="line">
            <a:avLst/>
          </a:prstGeom>
          <a:ln w="63500">
            <a:solidFill>
              <a:srgbClr val="BEE5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171700" y="3355093"/>
            <a:ext cx="108926" cy="53128"/>
          </a:xfrm>
          <a:prstGeom prst="line">
            <a:avLst/>
          </a:prstGeom>
          <a:ln w="63500">
            <a:solidFill>
              <a:srgbClr val="BEE5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308933" y="3310822"/>
            <a:ext cx="116498" cy="33405"/>
          </a:xfrm>
          <a:prstGeom prst="line">
            <a:avLst/>
          </a:prstGeom>
          <a:ln w="63500">
            <a:solidFill>
              <a:srgbClr val="BEE5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455195" y="3292369"/>
            <a:ext cx="120528" cy="12668"/>
          </a:xfrm>
          <a:prstGeom prst="line">
            <a:avLst/>
          </a:prstGeom>
          <a:ln w="63500">
            <a:solidFill>
              <a:srgbClr val="BEE5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606040" y="3291839"/>
            <a:ext cx="120896" cy="8454"/>
          </a:xfrm>
          <a:prstGeom prst="line">
            <a:avLst/>
          </a:prstGeom>
          <a:ln w="63500">
            <a:solidFill>
              <a:srgbClr val="BEE5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56884" y="3305037"/>
            <a:ext cx="117592" cy="29319"/>
          </a:xfrm>
          <a:prstGeom prst="line">
            <a:avLst/>
          </a:prstGeom>
          <a:ln w="63500">
            <a:solidFill>
              <a:srgbClr val="BEE5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903146" y="3344227"/>
            <a:ext cx="110714" cy="49294"/>
          </a:xfrm>
          <a:prstGeom prst="line">
            <a:avLst/>
          </a:prstGeom>
          <a:ln w="63500">
            <a:solidFill>
              <a:srgbClr val="BEE5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040380" y="3408221"/>
            <a:ext cx="100472" cy="67769"/>
          </a:xfrm>
          <a:prstGeom prst="line">
            <a:avLst/>
          </a:prstGeom>
          <a:ln w="63500">
            <a:solidFill>
              <a:srgbClr val="BEE5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164416" y="3495072"/>
            <a:ext cx="87179" cy="84187"/>
          </a:xfrm>
          <a:prstGeom prst="line">
            <a:avLst/>
          </a:prstGeom>
          <a:ln w="63500">
            <a:solidFill>
              <a:srgbClr val="BEE5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271487" y="3602143"/>
            <a:ext cx="71235" cy="98046"/>
          </a:xfrm>
          <a:prstGeom prst="line">
            <a:avLst/>
          </a:prstGeom>
          <a:ln w="63500">
            <a:solidFill>
              <a:srgbClr val="BEE5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358338" y="3726180"/>
            <a:ext cx="53128" cy="108926"/>
          </a:xfrm>
          <a:prstGeom prst="line">
            <a:avLst/>
          </a:prstGeom>
          <a:ln w="63500">
            <a:solidFill>
              <a:srgbClr val="2F3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422332" y="3863413"/>
            <a:ext cx="33405" cy="116498"/>
          </a:xfrm>
          <a:prstGeom prst="line">
            <a:avLst/>
          </a:prstGeom>
          <a:ln w="63500">
            <a:solidFill>
              <a:srgbClr val="2F3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461522" y="4009675"/>
            <a:ext cx="12668" cy="120528"/>
          </a:xfrm>
          <a:prstGeom prst="line">
            <a:avLst/>
          </a:prstGeom>
          <a:ln w="63500">
            <a:solidFill>
              <a:srgbClr val="2F3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3466266" y="4160520"/>
            <a:ext cx="8454" cy="120896"/>
          </a:xfrm>
          <a:prstGeom prst="line">
            <a:avLst/>
          </a:prstGeom>
          <a:ln w="63500">
            <a:solidFill>
              <a:srgbClr val="2F3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3432203" y="4311364"/>
            <a:ext cx="29319" cy="117592"/>
          </a:xfrm>
          <a:prstGeom prst="line">
            <a:avLst/>
          </a:prstGeom>
          <a:ln w="63500">
            <a:solidFill>
              <a:srgbClr val="2F3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3373038" y="4457626"/>
            <a:ext cx="49294" cy="110714"/>
          </a:xfrm>
          <a:prstGeom prst="line">
            <a:avLst/>
          </a:prstGeom>
          <a:ln w="63500">
            <a:solidFill>
              <a:srgbClr val="2F3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920240" y="3794760"/>
            <a:ext cx="1371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900" b="1">
                <a:solidFill>
                  <a:srgbClr val="BEE55D"/>
                </a:solidFill>
                <a:latin typeface="Aptos"/>
              </a:rPr>
              <a:t>82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4828032"/>
            <a:ext cx="2514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A4B1BA"/>
                </a:solidFill>
                <a:latin typeface="Aptos"/>
              </a:rPr>
              <a:t>Illustrative prototype score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83480" y="25146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5D3BE"/>
                </a:solidFill>
                <a:latin typeface="Aptos"/>
              </a:rPr>
              <a:t>SIMPLE FACTOR MODEL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83480" y="2926080"/>
            <a:ext cx="1417320" cy="283464"/>
          </a:xfrm>
          <a:prstGeom prst="roundRect">
            <a:avLst/>
          </a:prstGeom>
          <a:solidFill>
            <a:srgbClr val="19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83480" y="2935224"/>
            <a:ext cx="141732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4F7F8"/>
                </a:solidFill>
                <a:latin typeface="Aptos"/>
              </a:rPr>
              <a:t>SEVERITY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2916936"/>
            <a:ext cx="4023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4F7F8"/>
                </a:solidFill>
                <a:latin typeface="Aptos"/>
              </a:rPr>
              <a:t>How serious does the image appear?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83480" y="3584448"/>
            <a:ext cx="1417320" cy="283464"/>
          </a:xfrm>
          <a:prstGeom prst="roundRect">
            <a:avLst/>
          </a:prstGeom>
          <a:solidFill>
            <a:srgbClr val="19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83480" y="3593591"/>
            <a:ext cx="141732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4F7F8"/>
                </a:solidFill>
                <a:latin typeface="Aptos"/>
              </a:rPr>
              <a:t>PUBLIC IMPACT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3575304"/>
            <a:ext cx="4023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4F7F8"/>
                </a:solidFill>
                <a:latin typeface="Aptos"/>
              </a:rPr>
              <a:t>Could it affect more people or movement?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983480" y="4242816"/>
            <a:ext cx="1417320" cy="283464"/>
          </a:xfrm>
          <a:prstGeom prst="roundRect">
            <a:avLst/>
          </a:prstGeom>
          <a:solidFill>
            <a:srgbClr val="19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83480" y="4251960"/>
            <a:ext cx="141732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4F7F8"/>
                </a:solidFill>
                <a:latin typeface="Aptos"/>
              </a:rPr>
              <a:t>RECURRENCE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4233672"/>
            <a:ext cx="4023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4F7F8"/>
                </a:solidFill>
                <a:latin typeface="Aptos"/>
              </a:rPr>
              <a:t>Is a similar issue appearing repeatedly?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83480" y="4901184"/>
            <a:ext cx="1417320" cy="283464"/>
          </a:xfrm>
          <a:prstGeom prst="roundRect">
            <a:avLst/>
          </a:prstGeom>
          <a:solidFill>
            <a:srgbClr val="19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83480" y="4910328"/>
            <a:ext cx="141732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4F7F8"/>
                </a:solidFill>
                <a:latin typeface="Aptos"/>
              </a:rPr>
              <a:t>LOCATION CONTEXT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4892040"/>
            <a:ext cx="4023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4F7F8"/>
                </a:solidFill>
                <a:latin typeface="Aptos"/>
              </a:rPr>
              <a:t>What is known about the surrounding context?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83480" y="5577840"/>
            <a:ext cx="5577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4B1BA"/>
                </a:solidFill>
                <a:latin typeface="Aptos"/>
              </a:rPr>
              <a:t>Key message: explain the score; don't pretend it is an official decision.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4B1BA"/>
                </a:solidFill>
                <a:latin typeface="Aptos"/>
              </a:rPr>
              <a:t>TEAM: Spectrum  •  TECH FOR A BETTER TOMORROW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4B1BA"/>
                </a:solidFill>
                <a:latin typeface="Aptos"/>
              </a:rPr>
              <a:t>CIVICLENS AI  /  HACKDAY 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B1BA"/>
                </a:solidFill>
                <a:latin typeface="Aptos"/>
              </a:rPr>
              <a:t>06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566928"/>
            <a:ext cx="11091672" cy="0"/>
          </a:xfrm>
          <a:prstGeom prst="line">
            <a:avLst/>
          </a:prstGeom>
          <a:ln w="12700">
            <a:solidFill>
              <a:srgbClr val="2F3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749808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5D3BE"/>
                </a:solidFill>
                <a:latin typeface="Aptos"/>
              </a:rPr>
              <a:t>05 /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4F7F8"/>
                </a:solidFill>
                <a:latin typeface="Aptos"/>
              </a:rPr>
              <a:t>The user sees one simple journey.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10512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4B1BA"/>
                </a:solidFill>
                <a:latin typeface="Aptos"/>
              </a:rPr>
              <a:t>Behind the scenes, the prototype connects AI analysis, reporting, tracking and visualization.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2743200" cy="3520440"/>
          </a:xfrm>
          <a:prstGeom prst="roundRect">
            <a:avLst/>
          </a:prstGeom>
          <a:solidFill>
            <a:srgbClr val="141D26"/>
          </a:solidFill>
          <a:ln>
            <a:solidFill>
              <a:srgbClr val="2F3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578608"/>
            <a:ext cx="2286000" cy="1143000"/>
          </a:xfrm>
          <a:prstGeom prst="roundRect">
            <a:avLst/>
          </a:prstGeom>
          <a:solidFill>
            <a:srgbClr val="19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7432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F7F8"/>
                </a:solidFill>
                <a:latin typeface="Aptos"/>
              </a:rPr>
              <a:t>Upload a photo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154680"/>
            <a:ext cx="914400" cy="274320"/>
          </a:xfrm>
          <a:prstGeom prst="roundRect">
            <a:avLst/>
          </a:prstGeom>
          <a:solidFill>
            <a:srgbClr val="4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163824"/>
            <a:ext cx="914400" cy="2560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C1219"/>
                </a:solidFill>
                <a:latin typeface="Aptos"/>
              </a:rPr>
              <a:t>+ IMAGE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950208"/>
            <a:ext cx="210312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4B1BA"/>
                </a:solidFill>
                <a:latin typeface="Aptos"/>
              </a:rPr>
              <a:t>AI result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279392"/>
            <a:ext cx="914400" cy="274320"/>
          </a:xfrm>
          <a:prstGeom prst="roundRect">
            <a:avLst/>
          </a:prstGeom>
          <a:solidFill>
            <a:srgbClr val="4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88536"/>
            <a:ext cx="914400" cy="2560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C1219"/>
                </a:solidFill>
                <a:latin typeface="Aptos"/>
              </a:rPr>
              <a:t>POTHOLE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4279392"/>
            <a:ext cx="777240" cy="274320"/>
          </a:xfrm>
          <a:prstGeom prst="roundRect">
            <a:avLst/>
          </a:prstGeom>
          <a:solidFill>
            <a:srgbClr val="FFA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4288536"/>
            <a:ext cx="777240" cy="2560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C1219"/>
                </a:solidFill>
                <a:latin typeface="Aptos"/>
              </a:rP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846320"/>
            <a:ext cx="9144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4B1BA"/>
                </a:solidFill>
                <a:latin typeface="Aptos"/>
              </a:rPr>
              <a:t>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13892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BEE55D"/>
                </a:solidFill>
                <a:latin typeface="Aptos"/>
              </a:rPr>
              <a:t>82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0" y="2331720"/>
            <a:ext cx="6903720" cy="512064"/>
          </a:xfrm>
          <a:prstGeom prst="roundRect">
            <a:avLst/>
          </a:prstGeom>
          <a:solidFill>
            <a:srgbClr val="141D26"/>
          </a:solidFill>
          <a:ln>
            <a:solidFill>
              <a:srgbClr val="2F3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160520" y="2450591"/>
            <a:ext cx="960120" cy="256032"/>
          </a:xfrm>
          <a:prstGeom prst="roundRect">
            <a:avLst/>
          </a:prstGeom>
          <a:solidFill>
            <a:srgbClr val="4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0520" y="2459735"/>
            <a:ext cx="9601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C1219"/>
                </a:solidFill>
                <a:latin typeface="Aptos"/>
              </a:rPr>
              <a:t>DETECT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2414015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7F8"/>
                </a:solidFill>
                <a:latin typeface="Aptos"/>
              </a:rPr>
              <a:t>Likely issue category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23360" y="2990087"/>
            <a:ext cx="6903720" cy="512064"/>
          </a:xfrm>
          <a:prstGeom prst="roundRect">
            <a:avLst/>
          </a:prstGeom>
          <a:solidFill>
            <a:srgbClr val="141D26"/>
          </a:solidFill>
          <a:ln>
            <a:solidFill>
              <a:srgbClr val="2F3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160520" y="3108959"/>
            <a:ext cx="960120" cy="256032"/>
          </a:xfrm>
          <a:prstGeom prst="roundRect">
            <a:avLst/>
          </a:prstGeom>
          <a:solidFill>
            <a:srgbClr val="4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60520" y="3118103"/>
            <a:ext cx="9601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C1219"/>
                </a:solidFill>
                <a:latin typeface="Aptos"/>
              </a:rPr>
              <a:t>ASSESS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3072383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7F8"/>
                </a:solidFill>
                <a:latin typeface="Aptos"/>
              </a:rPr>
              <a:t>Severity + confidence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23360" y="3648456"/>
            <a:ext cx="6903720" cy="512064"/>
          </a:xfrm>
          <a:prstGeom prst="roundRect">
            <a:avLst/>
          </a:prstGeom>
          <a:solidFill>
            <a:srgbClr val="141D26"/>
          </a:solidFill>
          <a:ln>
            <a:solidFill>
              <a:srgbClr val="2F3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160520" y="3767328"/>
            <a:ext cx="960120" cy="256032"/>
          </a:xfrm>
          <a:prstGeom prst="roundRect">
            <a:avLst/>
          </a:prstGeom>
          <a:solidFill>
            <a:srgbClr val="BEE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60520" y="3776472"/>
            <a:ext cx="9601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C1219"/>
                </a:solidFill>
                <a:latin typeface="Aptos"/>
              </a:rPr>
              <a:t>EXPLAIN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3730752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7F8"/>
                </a:solidFill>
                <a:latin typeface="Aptos"/>
              </a:rPr>
              <a:t>AI-assisted impact score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23360" y="4306824"/>
            <a:ext cx="6903720" cy="512064"/>
          </a:xfrm>
          <a:prstGeom prst="roundRect">
            <a:avLst/>
          </a:prstGeom>
          <a:solidFill>
            <a:srgbClr val="141D26"/>
          </a:solidFill>
          <a:ln>
            <a:solidFill>
              <a:srgbClr val="2F3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160520" y="4425696"/>
            <a:ext cx="960120" cy="256032"/>
          </a:xfrm>
          <a:prstGeom prst="roundRect">
            <a:avLst/>
          </a:prstGeom>
          <a:solidFill>
            <a:srgbClr val="19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60520" y="4434840"/>
            <a:ext cx="9601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4F7F8"/>
                </a:solidFill>
                <a:latin typeface="Aptos"/>
              </a:rPr>
              <a:t>DRAFT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40" y="438912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7F8"/>
                </a:solidFill>
                <a:latin typeface="Aptos"/>
              </a:rPr>
              <a:t>Structured complaint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23360" y="4965192"/>
            <a:ext cx="6903720" cy="512064"/>
          </a:xfrm>
          <a:prstGeom prst="roundRect">
            <a:avLst/>
          </a:prstGeom>
          <a:solidFill>
            <a:srgbClr val="141D26"/>
          </a:solidFill>
          <a:ln>
            <a:solidFill>
              <a:srgbClr val="2F3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160520" y="5084064"/>
            <a:ext cx="960120" cy="256032"/>
          </a:xfrm>
          <a:prstGeom prst="roundRect">
            <a:avLst/>
          </a:prstGeom>
          <a:solidFill>
            <a:srgbClr val="19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5093207"/>
            <a:ext cx="9601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4F7F8"/>
                </a:solidFill>
                <a:latin typeface="Aptos"/>
              </a:rPr>
              <a:t>FOLLOW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9240" y="5047488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7F8"/>
                </a:solidFill>
                <a:latin typeface="Aptos"/>
              </a:rPr>
              <a:t>Status / map / 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4B1BA"/>
                </a:solidFill>
                <a:latin typeface="Aptos"/>
              </a:rPr>
              <a:t>TEAM: Spectrum  •  TECH FOR A BETTER TOMORROW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4B1BA"/>
                </a:solidFill>
                <a:latin typeface="Aptos"/>
              </a:rPr>
              <a:t>CIVICLENS AI  /  HACKDAY 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B1BA"/>
                </a:solidFill>
                <a:latin typeface="Aptos"/>
              </a:rPr>
              <a:t>07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566928"/>
            <a:ext cx="11091672" cy="0"/>
          </a:xfrm>
          <a:prstGeom prst="line">
            <a:avLst/>
          </a:prstGeom>
          <a:ln w="12700">
            <a:solidFill>
              <a:srgbClr val="2F3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749808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5D3BE"/>
                </a:solidFill>
                <a:latin typeface="Aptos"/>
              </a:rPr>
              <a:t>06 / WHY IT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4F7F8"/>
                </a:solidFill>
                <a:latin typeface="Aptos"/>
              </a:rPr>
              <a:t>The output is not just a complaint.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10512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4B1BA"/>
                </a:solidFill>
                <a:latin typeface="Aptos"/>
              </a:rPr>
              <a:t>It is a clearer civic signal that can be viewed at both the individual and community level.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514600"/>
            <a:ext cx="3246120" cy="2560320"/>
          </a:xfrm>
          <a:prstGeom prst="roundRect">
            <a:avLst/>
          </a:prstGeom>
          <a:solidFill>
            <a:srgbClr val="141D26"/>
          </a:solidFill>
          <a:ln>
            <a:solidFill>
              <a:srgbClr val="2F3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788920"/>
            <a:ext cx="914400" cy="274320"/>
          </a:xfrm>
          <a:prstGeom prst="roundRect">
            <a:avLst/>
          </a:prstGeom>
          <a:solidFill>
            <a:srgbClr val="19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98063"/>
            <a:ext cx="914400" cy="2560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45D3BE"/>
                </a:solidFill>
                <a:latin typeface="Aptos"/>
              </a:rPr>
              <a:t>CITIZEN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10128"/>
            <a:ext cx="2697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4F7F8"/>
                </a:solidFill>
                <a:latin typeface="Aptos"/>
              </a:rPr>
              <a:t>Lower reporting friction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2697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B1BA"/>
                </a:solidFill>
                <a:latin typeface="Aptos"/>
              </a:rPr>
              <a:t>Start with a photo instead of a blank form.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2514600"/>
            <a:ext cx="3246120" cy="2560320"/>
          </a:xfrm>
          <a:prstGeom prst="roundRect">
            <a:avLst/>
          </a:prstGeom>
          <a:solidFill>
            <a:srgbClr val="19242E"/>
          </a:solidFill>
          <a:ln>
            <a:solidFill>
              <a:srgbClr val="45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09160" y="2788920"/>
            <a:ext cx="914400" cy="274320"/>
          </a:xfrm>
          <a:prstGeom prst="roundRect">
            <a:avLst/>
          </a:prstGeom>
          <a:solidFill>
            <a:srgbClr val="4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2798063"/>
            <a:ext cx="914400" cy="2560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C1219"/>
                </a:solidFill>
                <a:latin typeface="Aptos"/>
              </a:rPr>
              <a:t>COMMUNITY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310128"/>
            <a:ext cx="2697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4F7F8"/>
                </a:solidFill>
                <a:latin typeface="Aptos"/>
              </a:rPr>
              <a:t>Shared 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4160520"/>
            <a:ext cx="2697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B1BA"/>
                </a:solidFill>
                <a:latin typeface="Aptos"/>
              </a:rPr>
              <a:t>See where issues cluster and what is still open.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2514600"/>
            <a:ext cx="3246120" cy="2560320"/>
          </a:xfrm>
          <a:prstGeom prst="roundRect">
            <a:avLst/>
          </a:prstGeom>
          <a:solidFill>
            <a:srgbClr val="141D26"/>
          </a:solidFill>
          <a:ln>
            <a:solidFill>
              <a:srgbClr val="2F3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03920" y="2788920"/>
            <a:ext cx="914400" cy="274320"/>
          </a:xfrm>
          <a:prstGeom prst="roundRect">
            <a:avLst/>
          </a:prstGeom>
          <a:solidFill>
            <a:srgbClr val="19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2798063"/>
            <a:ext cx="914400" cy="2560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45D3BE"/>
                </a:solidFill>
                <a:latin typeface="Aptos"/>
              </a:rPr>
              <a:t>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310128"/>
            <a:ext cx="2697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4F7F8"/>
                </a:solidFill>
                <a:latin typeface="Aptos"/>
              </a:rPr>
              <a:t>More 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160520"/>
            <a:ext cx="2697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B1BA"/>
                </a:solidFill>
                <a:latin typeface="Aptos"/>
              </a:rPr>
              <a:t>Standardized fields make reports easier to compare.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96128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EE55D"/>
                </a:solidFill>
                <a:latin typeface="Aptos"/>
              </a:rPr>
              <a:t>Scalability path: more categories → better verification → multilingual/voice input → integrations.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4B1BA"/>
                </a:solidFill>
                <a:latin typeface="Aptos"/>
              </a:rPr>
              <a:t>TEAM: Spectrum  •  TECH FOR A BETTER TOMORROW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4B1BA"/>
                </a:solidFill>
                <a:latin typeface="Aptos"/>
              </a:rPr>
              <a:t>CIVICLENS AI  /  HACKDAY 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B1BA"/>
                </a:solidFill>
                <a:latin typeface="Aptos"/>
              </a:rPr>
              <a:t>08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566928"/>
            <a:ext cx="11091672" cy="0"/>
          </a:xfrm>
          <a:prstGeom prst="line">
            <a:avLst/>
          </a:prstGeom>
          <a:ln w="12700">
            <a:solidFill>
              <a:srgbClr val="2F3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868680"/>
            <a:ext cx="6583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5D3BE"/>
                </a:solidFill>
                <a:latin typeface="Aptos"/>
              </a:rPr>
              <a:t>DEMO / 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4F7F8"/>
                </a:solidFill>
                <a:latin typeface="Aptos"/>
              </a:rPr>
              <a:t>See the problem.
Then show what happens next.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43200"/>
            <a:ext cx="411480" cy="256032"/>
          </a:xfrm>
          <a:prstGeom prst="roundRect">
            <a:avLst/>
          </a:prstGeom>
          <a:solidFill>
            <a:srgbClr val="BEE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752344"/>
            <a:ext cx="411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C1219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2724912"/>
            <a:ext cx="960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4F7F8"/>
                </a:solidFill>
                <a:latin typeface="Aptos"/>
              </a:rPr>
              <a:t>UPLOAD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67128" y="2880360"/>
            <a:ext cx="347472" cy="0"/>
          </a:xfrm>
          <a:prstGeom prst="line">
            <a:avLst/>
          </a:prstGeom>
          <a:ln w="19050">
            <a:solidFill>
              <a:srgbClr val="2F3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32888" y="2743200"/>
            <a:ext cx="411480" cy="256032"/>
          </a:xfrm>
          <a:prstGeom prst="roundRect">
            <a:avLst/>
          </a:prstGeom>
          <a:solidFill>
            <a:srgbClr val="4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32888" y="2752344"/>
            <a:ext cx="411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C1219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724912"/>
            <a:ext cx="960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4F7F8"/>
                </a:solidFill>
                <a:latin typeface="Aptos"/>
              </a:rPr>
              <a:t>AI READS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14216" y="2880360"/>
            <a:ext cx="347472" cy="0"/>
          </a:xfrm>
          <a:prstGeom prst="line">
            <a:avLst/>
          </a:prstGeom>
          <a:ln w="19050">
            <a:solidFill>
              <a:srgbClr val="2F3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79976" y="2743200"/>
            <a:ext cx="411480" cy="256032"/>
          </a:xfrm>
          <a:prstGeom prst="roundRect">
            <a:avLst/>
          </a:prstGeom>
          <a:solidFill>
            <a:srgbClr val="4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9976" y="2752344"/>
            <a:ext cx="411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C1219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0328" y="2724912"/>
            <a:ext cx="960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4F7F8"/>
                </a:solidFill>
                <a:latin typeface="Aptos"/>
              </a:rPr>
              <a:t>SCORE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61304" y="2880360"/>
            <a:ext cx="347472" cy="0"/>
          </a:xfrm>
          <a:prstGeom prst="line">
            <a:avLst/>
          </a:prstGeom>
          <a:ln w="19050">
            <a:solidFill>
              <a:srgbClr val="2F3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27064" y="2743200"/>
            <a:ext cx="411480" cy="256032"/>
          </a:xfrm>
          <a:prstGeom prst="roundRect">
            <a:avLst/>
          </a:prstGeom>
          <a:solidFill>
            <a:srgbClr val="4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7064" y="2752344"/>
            <a:ext cx="411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C1219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7416" y="2724912"/>
            <a:ext cx="960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4F7F8"/>
                </a:solidFill>
                <a:latin typeface="Aptos"/>
              </a:rPr>
              <a:t>REPORT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08392" y="2880360"/>
            <a:ext cx="347472" cy="0"/>
          </a:xfrm>
          <a:prstGeom prst="line">
            <a:avLst/>
          </a:prstGeom>
          <a:ln w="19050">
            <a:solidFill>
              <a:srgbClr val="2F3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074152" y="2743200"/>
            <a:ext cx="411480" cy="256032"/>
          </a:xfrm>
          <a:prstGeom prst="roundRect">
            <a:avLst/>
          </a:prstGeom>
          <a:solidFill>
            <a:srgbClr val="4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74152" y="2752344"/>
            <a:ext cx="411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C1219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04504" y="2724912"/>
            <a:ext cx="960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4F7F8"/>
                </a:solidFill>
                <a:latin typeface="Aptos"/>
              </a:rPr>
              <a:t>TRACK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555480" y="2880360"/>
            <a:ext cx="347472" cy="0"/>
          </a:xfrm>
          <a:prstGeom prst="line">
            <a:avLst/>
          </a:prstGeom>
          <a:ln w="19050">
            <a:solidFill>
              <a:srgbClr val="2F3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921240" y="2743200"/>
            <a:ext cx="411480" cy="256032"/>
          </a:xfrm>
          <a:prstGeom prst="roundRect">
            <a:avLst/>
          </a:prstGeom>
          <a:solidFill>
            <a:srgbClr val="BEE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21240" y="2752344"/>
            <a:ext cx="411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C1219"/>
                </a:solidFill>
                <a:latin typeface="Apto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51592" y="2724912"/>
            <a:ext cx="960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4F7F8"/>
                </a:solidFill>
                <a:latin typeface="Aptos"/>
              </a:rPr>
              <a:t>MAP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3383280"/>
            <a:ext cx="3657600" cy="1828800"/>
          </a:xfrm>
          <a:prstGeom prst="roundRect">
            <a:avLst/>
          </a:prstGeom>
          <a:solidFill>
            <a:srgbClr val="19242E"/>
          </a:solidFill>
          <a:ln>
            <a:solidFill>
              <a:srgbClr val="45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18120" y="365760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5D3BE"/>
                </a:solidFill>
                <a:latin typeface="Aptos"/>
              </a:rPr>
              <a:t>NEXT WITH MORE 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4096512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4F7F8"/>
                </a:solidFill>
                <a:latin typeface="Aptos"/>
              </a:rPr>
              <a:t>Duplicate detection
Human verification
Voice / multilingual input
Municipal workflow integrations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3703320"/>
            <a:ext cx="6355080" cy="1508760"/>
          </a:xfrm>
          <a:prstGeom prst="roundRect">
            <a:avLst/>
          </a:prstGeom>
          <a:solidFill>
            <a:srgbClr val="141D26"/>
          </a:solidFill>
          <a:ln>
            <a:solidFill>
              <a:srgbClr val="2F3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3959352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4B1BA"/>
                </a:solidFill>
                <a:latin typeface="Aptos"/>
              </a:rPr>
              <a:t>CLOSING 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4370832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4F7F8"/>
                </a:solidFill>
                <a:latin typeface="Aptos"/>
              </a:rPr>
              <a:t>“CivicLens turns a simple photo into structured civic intelligence.”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5596128"/>
            <a:ext cx="5852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EE55D"/>
                </a:solidFill>
                <a:latin typeface="Aptos"/>
              </a:rPr>
              <a:t>Thank you  •  Questions?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4B1BA"/>
                </a:solidFill>
                <a:latin typeface="Aptos"/>
              </a:rPr>
              <a:t>TEAM: Spectrum  •  TECH FOR A BETTER TOMORROW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